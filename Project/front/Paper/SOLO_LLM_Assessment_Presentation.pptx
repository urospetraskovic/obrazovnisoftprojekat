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464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-1371600"/>
            <a:ext cx="3657600" cy="3657600"/>
          </a:xfrm>
          <a:prstGeom prst="ellipse">
            <a:avLst/>
          </a:prstGeom>
          <a:solidFill>
            <a:srgbClr val="E07A3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20095" y="-457200"/>
            <a:ext cx="2286000" cy="22860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PRESENTATION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Large Language Models</a:t>
            </a:r>
            <a:endParaRPr lang="en-US" sz="3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Automated Generation of</a:t>
            </a:r>
            <a:endParaRPr lang="en-US" sz="3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Items Based on SOLO Taxonomy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14400" y="4526280"/>
            <a:ext cx="731520" cy="45720"/>
          </a:xfrm>
          <a:prstGeom prst="rect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Uroš Petrašković¹  ·  Goran Savić¹  ·  Mihaela Osmajić¹  ·  Milan Segedinac¹  ·  Peter Steiner²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University of Novi Sad, Faculty of Technical Sciences, Serbia</a:t>
            </a:r>
            <a:endParaRPr lang="en-US" sz="11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² Pädagogische Hochschule St. Gallen (PHSG), Switzerland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7901BA34-F0FB-E3CE-CD3F-FC121986679E}"/>
              </a:ext>
            </a:extLst>
          </p:cNvPr>
          <p:cNvSpPr/>
          <p:nvPr/>
        </p:nvSpPr>
        <p:spPr>
          <a:xfrm>
            <a:off x="605906" y="1600200"/>
            <a:ext cx="5349240" cy="4023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4B42FDF1-4C78-2543-CBA4-294B1D339A28}"/>
              </a:ext>
            </a:extLst>
          </p:cNvPr>
          <p:cNvSpPr/>
          <p:nvPr/>
        </p:nvSpPr>
        <p:spPr>
          <a:xfrm>
            <a:off x="1021080" y="2011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00" b="1" kern="0" spc="4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94A247AA-578A-6A59-F410-AD5CE3EE73B3}"/>
              </a:ext>
            </a:extLst>
          </p:cNvPr>
          <p:cNvSpPr/>
          <p:nvPr/>
        </p:nvSpPr>
        <p:spPr>
          <a:xfrm>
            <a:off x="1021080" y="233172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creation is slow, costly, and cognitively demanding.</a:t>
            </a:r>
            <a:endParaRPr lang="en-US" sz="2200" dirty="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EB8940AD-4189-9F79-3F52-27B8B01B040A}"/>
              </a:ext>
            </a:extLst>
          </p:cNvPr>
          <p:cNvSpPr/>
          <p:nvPr/>
        </p:nvSpPr>
        <p:spPr>
          <a:xfrm>
            <a:off x="1021080" y="3444702"/>
            <a:ext cx="548640" cy="36576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C30336C0-5DAB-66CD-B8D0-8617113203C7}"/>
              </a:ext>
            </a:extLst>
          </p:cNvPr>
          <p:cNvSpPr/>
          <p:nvPr/>
        </p:nvSpPr>
        <p:spPr>
          <a:xfrm>
            <a:off x="1039091" y="3700734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/>
              <a:t>Educators spend a lot of time writing assessments </a:t>
            </a: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It is hard to cover varied cognitive levels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Quality drops under deadline pressure</a:t>
            </a:r>
            <a:endParaRPr lang="en-US" sz="1300" dirty="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F628E407-D686-236D-9A91-E4C14FD5B8F4}"/>
              </a:ext>
            </a:extLst>
          </p:cNvPr>
          <p:cNvSpPr/>
          <p:nvPr/>
        </p:nvSpPr>
        <p:spPr>
          <a:xfrm>
            <a:off x="6278880" y="1600200"/>
            <a:ext cx="5349240" cy="402336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98C60450-8691-85C0-4A5F-807741029269}"/>
              </a:ext>
            </a:extLst>
          </p:cNvPr>
          <p:cNvSpPr/>
          <p:nvPr/>
        </p:nvSpPr>
        <p:spPr>
          <a:xfrm>
            <a:off x="6736080" y="2011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EBFD1573-5530-8790-177B-CAFD34C55586}"/>
              </a:ext>
            </a:extLst>
          </p:cNvPr>
          <p:cNvSpPr/>
          <p:nvPr/>
        </p:nvSpPr>
        <p:spPr>
          <a:xfrm>
            <a:off x="6736080" y="233172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pipeline grounded in pedagogical theory.</a:t>
            </a:r>
            <a:endParaRPr lang="en-US" sz="2200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15380142-8918-0A44-C21A-C1A2DA34992B}"/>
              </a:ext>
            </a:extLst>
          </p:cNvPr>
          <p:cNvSpPr/>
          <p:nvPr/>
        </p:nvSpPr>
        <p:spPr>
          <a:xfrm>
            <a:off x="6736080" y="3429000"/>
            <a:ext cx="548640" cy="36576"/>
          </a:xfrm>
          <a:prstGeom prst="rect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C54B62A5-E511-DBC8-562C-8FAF55419205}"/>
              </a:ext>
            </a:extLst>
          </p:cNvPr>
          <p:cNvSpPr/>
          <p:nvPr/>
        </p:nvSpPr>
        <p:spPr>
          <a:xfrm>
            <a:off x="6726844" y="3602736"/>
            <a:ext cx="4434840" cy="1740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alone aren't enough</a:t>
            </a: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generation lacks structure. Items drift away from intended learning outcomes.</a:t>
            </a: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taxonomy for cognitive depth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for structured knowledge</a:t>
            </a:r>
          </a:p>
          <a:p>
            <a:pPr algn="l">
              <a:buSzPct val="100000"/>
            </a:pPr>
            <a:endParaRPr lang="en-US" sz="1300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structure = quality</a:t>
            </a:r>
          </a:p>
          <a:p>
            <a:pPr marL="342900" indent="-342900" algn="l">
              <a:buSzPct val="100000"/>
              <a:buChar char="•"/>
            </a:pPr>
            <a:endParaRPr lang="en-US" sz="1300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buSzPct val="100000"/>
              <a:buChar char="•"/>
            </a:pP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THEORETICAL 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SOLO Taxonomy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Observed Learning Outcomes, a framework that categorizes the increasing complexity of a learner's understanding.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0888" y="2468880"/>
            <a:ext cx="2011680" cy="274320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0888" y="2468880"/>
            <a:ext cx="2011680" cy="7315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6688" y="2743200"/>
            <a:ext cx="640080" cy="64008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86688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2328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Prestructural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8048" y="4023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understanding;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missed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irrelevant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95448" y="2468880"/>
            <a:ext cx="201168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95448" y="2468880"/>
            <a:ext cx="201168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81248" y="2743200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81248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86888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Unistructural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32608" y="4023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Grasps a single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of the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90008" y="2468880"/>
            <a:ext cx="201168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90008" y="2468880"/>
            <a:ext cx="201168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75808" y="2743200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75808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81448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Multistructural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27168" y="4023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several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aspects but not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connections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84568" y="2468880"/>
            <a:ext cx="201168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284568" y="2468880"/>
            <a:ext cx="201168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70368" y="2743200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970368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76008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21728" y="4023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pieces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coherent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79128" y="2468880"/>
            <a:ext cx="201168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479128" y="2468880"/>
            <a:ext cx="201168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164928" y="2743200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164928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570568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Abstract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16288" y="4023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new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" y="5440680"/>
            <a:ext cx="73152" cy="457200"/>
          </a:xfrm>
          <a:prstGeom prst="rect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8680" y="539496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targets levels 2 → 5. Prestructural is excluded as it represents absent understanding.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RELATED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Prior Research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12080" cy="19202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73152" cy="1920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Generation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Mitkov &amp; Ha (2003)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NLP rules to transform declarative sentences into questions. Effective for simple facts but produced awkward output on complex material.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12080" cy="19202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73152" cy="1920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for Programming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et al. (2006)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6517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assessments can be classified by SOLO levels. Critiqued over-emphasis on low-level skills and gave us our taxonomic frame.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977640"/>
            <a:ext cx="5212080" cy="19202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" y="3977640"/>
            <a:ext cx="73152" cy="1920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Quality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Liang et al. (2018)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4846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 learn-to-rank approach. Key insight: good distractors should be semantically related yet clearly wrong on close reading.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212080" cy="19202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73152" cy="1920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Education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96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Kasneci et al. (2023)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4846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ChatGPT in education — fast and diverse generation, but raised concerns about accuracy, bias, and need for teacher oversight.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SYSTEM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monolithic web application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services: Translator, Assessment Generator, Content Parser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- hierarchical structure: Subject → Lesson → Section → Learning Object → Question → Assessment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layer - OWL ontology providing semantic enrichment and concept validation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2673" y="59248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Workflow diagram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74831" y="1165860"/>
            <a:ext cx="5331064" cy="47548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271" y="1257300"/>
            <a:ext cx="5148184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PROCESSING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PDF to Assessment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52348" y="2103120"/>
            <a:ext cx="187452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92428" y="1810512"/>
            <a:ext cx="594360" cy="594360"/>
          </a:xfrm>
          <a:prstGeom prst="ellipse">
            <a:avLst/>
          </a:prstGeom>
          <a:solidFill>
            <a:srgbClr val="0A254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92428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3788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9508" y="3063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lecture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uploaded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45156" y="292608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55468" y="2103120"/>
            <a:ext cx="187452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95548" y="1810512"/>
            <a:ext cx="594360" cy="594360"/>
          </a:xfrm>
          <a:prstGeom prst="ellipse">
            <a:avLst/>
          </a:prstGeom>
          <a:solidFill>
            <a:srgbClr val="0A254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95548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46908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92628" y="3063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components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48276" y="292608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158588" y="2103120"/>
            <a:ext cx="187452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98668" y="1810512"/>
            <a:ext cx="594360" cy="594360"/>
          </a:xfrm>
          <a:prstGeom prst="ellipse">
            <a:avLst/>
          </a:prstGeom>
          <a:solidFill>
            <a:srgbClr val="0A254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98668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50028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95748" y="3063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stored: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→ Sections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Learning Objects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51396" y="292608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261708" y="2103120"/>
            <a:ext cx="187452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01788" y="1810512"/>
            <a:ext cx="594360" cy="594360"/>
          </a:xfrm>
          <a:prstGeom prst="ellipse">
            <a:avLst/>
          </a:prstGeom>
          <a:solidFill>
            <a:srgbClr val="0A254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01788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53148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98868" y="3063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relations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exported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OWL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54516" y="292608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364828" y="2103120"/>
            <a:ext cx="187452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004908" y="1810512"/>
            <a:ext cx="594360" cy="594360"/>
          </a:xfrm>
          <a:prstGeom prst="ellipse">
            <a:avLst/>
          </a:prstGeom>
          <a:solidFill>
            <a:srgbClr val="0A254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004908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456268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501988" y="3063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produced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4 SOLO levels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" y="5029200"/>
            <a:ext cx="10820095" cy="100584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85800" y="5029200"/>
            <a:ext cx="73152" cy="1005840"/>
          </a:xfrm>
          <a:prstGeom prst="rect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0120" y="512064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 in this study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0120" y="54406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Qwen 2.5 (14B parameters) — runs offline, no API keys required. Architecture is model-agnostic, so swapping in another LLM is straightforward.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GENERATION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Types Across SOLO Levels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uses a tailored prompt adapted to its cognitive complexity. Every item is stored with options, correct answer, and explanation.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0868" y="2194560"/>
            <a:ext cx="260604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0868" y="2194560"/>
            <a:ext cx="2606040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2308" y="2194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Unistructural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3748" y="3063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FOCUS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3748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fact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3748" y="3886200"/>
            <a:ext cx="22402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3748" y="3977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3748" y="42519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about one isolated concept or definition.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75508" y="2194560"/>
            <a:ext cx="260604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75508" y="2194560"/>
            <a:ext cx="2606040" cy="640080"/>
          </a:xfrm>
          <a:prstGeom prst="rect">
            <a:avLst/>
          </a:prstGeom>
          <a:solidFill>
            <a:srgbClr val="2A8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66948" y="2194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Multistructural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58388" y="3063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FOCUS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58388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facts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58388" y="3886200"/>
            <a:ext cx="22402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58388" y="3977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58388" y="42519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or lists several independent aspects.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0148" y="2194560"/>
            <a:ext cx="260604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0148" y="2194560"/>
            <a:ext cx="2606040" cy="640080"/>
          </a:xfrm>
          <a:prstGeom prst="rect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1588" y="2194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93028" y="3063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FOCUS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93028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concepts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393028" y="3886200"/>
            <a:ext cx="22402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93028" y="3977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93028" y="42519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how two or more ideas link together.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44788" y="2194560"/>
            <a:ext cx="260604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044788" y="2194560"/>
            <a:ext cx="2606040" cy="64008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36228" y="2194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Abstract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227668" y="3063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FOCUS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227668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 new context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227668" y="3886200"/>
            <a:ext cx="22402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227668" y="3977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227668" y="42519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knowledge to an unfamiliar domain.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USER INTERFACE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an Assessment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workflow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2860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desired lessons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target SOLO levels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number of questions per level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assembles the assessment automatically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5212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shown in this example were auto-generated from raw teaching materials in Serbian (Operating Systems course).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215909" y="5760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 Setting parameters for an assessment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82607" y="1348740"/>
            <a:ext cx="65061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ui_pa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607" y="1463040"/>
            <a:ext cx="6323288" cy="4206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USER INTERFACE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Generated Assessment Item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is presented with multiple-choice options, the correct answer, and a detailed explanation, visible to the educator for review.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90086" y="2103120"/>
            <a:ext cx="6411523" cy="31089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ui_assess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526" y="2194560"/>
            <a:ext cx="6228643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2578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An assessment item rendered in the system UI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77240" y="5806440"/>
            <a:ext cx="228600" cy="228600"/>
          </a:xfrm>
          <a:prstGeom prst="ellipse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43000" y="57150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level tag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43000" y="5971032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per question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75378" y="5806440"/>
            <a:ext cx="228600" cy="228600"/>
          </a:xfrm>
          <a:prstGeom prst="ellipse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1138" y="57150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attribution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1138" y="5971032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/>
              <a:t>from which lesson</a:t>
            </a:r>
          </a:p>
        </p:txBody>
      </p:sp>
      <p:sp>
        <p:nvSpPr>
          <p:cNvPr id="14" name="Shape 11"/>
          <p:cNvSpPr/>
          <p:nvPr/>
        </p:nvSpPr>
        <p:spPr>
          <a:xfrm>
            <a:off x="8173517" y="5806440"/>
            <a:ext cx="228600" cy="228600"/>
          </a:xfrm>
          <a:prstGeom prst="ellipse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539277" y="57150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answer + rationale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39277" y="5971032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teacher review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Study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4864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73152" cy="109728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automatically generated assessment items align with their assigned SOLO level?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611880"/>
            <a:ext cx="54864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73152" cy="109728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automatically generated distractors plausible?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setup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0" y="2331720"/>
            <a:ext cx="4572000" cy="50292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0880" y="2331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pilot evaluation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2926080"/>
            <a:ext cx="4572000" cy="50292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0" y="2926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21040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random item per SOLO level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3520440"/>
            <a:ext cx="4572000" cy="50292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0" y="3520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21040" y="3520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· Software Testing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0" y="4114800"/>
            <a:ext cx="4572000" cy="50292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40880" y="4114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1040" y="4114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validity &amp; distractor quality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Unistructural - A Closer Look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UNISTRUCTURAL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Counter (PC) holds the memory address of which type of entity?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971800"/>
            <a:ext cx="521208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3200400"/>
            <a:ext cx="457200" cy="457200"/>
          </a:xfrm>
          <a:prstGeom prst="ellipse">
            <a:avLst/>
          </a:prstGeom>
          <a:solidFill>
            <a:srgbClr val="108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31363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instruction to be executed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35387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108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63640" y="2971800"/>
            <a:ext cx="521208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92240" y="3200400"/>
            <a:ext cx="457200" cy="45720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31363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executing instruction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0" y="35387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DISTRACTOR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40880" y="38130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Exploits temporal confusion (next vs. current)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4572000"/>
            <a:ext cx="521208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48006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7365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instructions in memory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51389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DISTRACTOR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63040" y="54132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register-scope misconception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4572000"/>
            <a:ext cx="521208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92240" y="4800600"/>
            <a:ext cx="457200" cy="457200"/>
          </a:xfrm>
          <a:prstGeom prst="ellipse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922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47365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variables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51389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DISTRACTOR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40880" y="54132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eliminated, instruction vs data is basic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Decreases with Cognitive Complexity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taxonomic complexity increased, item quality decreased.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2377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item quality (qualitative assessment)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Unistructural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2834640"/>
            <a:ext cx="6400800" cy="32004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880360" y="2834640"/>
            <a:ext cx="5888736" cy="320040"/>
          </a:xfrm>
          <a:prstGeom prst="rect">
            <a:avLst/>
          </a:prstGeom>
          <a:solidFill>
            <a:srgbClr val="108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383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Multistructural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0360" y="3474720"/>
            <a:ext cx="6400800" cy="32004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80360" y="3474720"/>
            <a:ext cx="4992624" cy="320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80360" y="4114800"/>
            <a:ext cx="6400800" cy="32004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880360" y="4114800"/>
            <a:ext cx="3520440" cy="320040"/>
          </a:xfrm>
          <a:prstGeom prst="rect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4663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Abstract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80360" y="4754880"/>
            <a:ext cx="6400800" cy="32004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80360" y="4754880"/>
            <a:ext cx="2560320" cy="32004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738360" y="2560320"/>
            <a:ext cx="164592" cy="164592"/>
          </a:xfrm>
          <a:prstGeom prst="ellipse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30968" y="2468880"/>
            <a:ext cx="14749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levels excelled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30968" y="2798064"/>
            <a:ext cx="14749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Unistructural and multistructural items aligned with intent and had plausible distractors.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738360" y="3794760"/>
            <a:ext cx="164592" cy="164592"/>
          </a:xfrm>
          <a:prstGeom prst="ellipse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30968" y="3703320"/>
            <a:ext cx="14749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levels struggled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30968" y="4087368"/>
            <a:ext cx="14749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and extended abstract items showed validity concerns, sometimes oversimplified.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738360" y="5029200"/>
            <a:ext cx="164592" cy="164592"/>
          </a:xfrm>
          <a:prstGeom prst="ellipse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30968" y="4937760"/>
            <a:ext cx="14749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redundancy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30968" y="5349240"/>
            <a:ext cx="14749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options occasionally conveyed the same incorrect concept.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&amp; What's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320040" cy="32004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2331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 that turns raw teaching materials into SOLO-classified assessments works in practice.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520440"/>
            <a:ext cx="320040" cy="32004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3474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LLMs with ontology-driven structure gives the system a coherent knowledge layer.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663440"/>
            <a:ext cx="320040" cy="32004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4617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Lower-cognitive-level items are already production-ready; higher levels need refinement.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1828800"/>
            <a:ext cx="4663440" cy="41148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2376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from here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223760" y="2926080"/>
            <a:ext cx="548640" cy="36576"/>
          </a:xfrm>
          <a:prstGeom prst="rect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23760" y="315468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empirical evaluation of question quality across all SOLO levels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causes of quality drop at higher cognitive levels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distractor generation for richer pedagogical utility</a:t>
            </a:r>
            <a:endParaRPr lang="en-US" sz="1200" dirty="0"/>
          </a:p>
          <a:p>
            <a:pPr marL="342900" indent="-342900" algn="l"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Multiple Choice Questions, short-answer and essay formats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E07A3E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48495" y="411480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914400" y="3520440"/>
            <a:ext cx="1097280" cy="54864"/>
          </a:xfrm>
          <a:prstGeom prst="rect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comments, and discussion welcome.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9377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Corresponding author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52120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Goran Savić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Technical Sciences, University of Novi Sad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savicg@uns.ac.rs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6355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the Ministry of Science, Technological Development and Innovation (No. 451-03-34/2026-03/200156) and the Faculty of Technical Sciences, University of Novi Sad (No. 01-3609/1).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1171</Words>
  <Application>Microsoft Office PowerPoint</Application>
  <PresentationFormat>Widescreen</PresentationFormat>
  <Paragraphs>253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Leveraging LLMs for SOLO-Based Assessment Generation</dc:title>
  <dc:subject>PptxGenJS Presentation</dc:subject>
  <dc:creator>Petraskovic, Savic, Osmajic, Segedinac, Steiner</dc:creator>
  <cp:lastModifiedBy>Uros Petraskovic</cp:lastModifiedBy>
  <cp:revision>4</cp:revision>
  <dcterms:created xsi:type="dcterms:W3CDTF">2026-04-28T13:46:27Z</dcterms:created>
  <dcterms:modified xsi:type="dcterms:W3CDTF">2026-04-28T14:20:52Z</dcterms:modified>
</cp:coreProperties>
</file>