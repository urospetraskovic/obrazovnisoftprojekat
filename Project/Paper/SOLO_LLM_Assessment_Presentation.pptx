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464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3657600" cy="3657600"/>
          </a:xfrm>
          <a:prstGeom prst="ellipse">
            <a:avLst/>
          </a:prstGeom>
          <a:solidFill>
            <a:srgbClr val="E07A3E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20095" y="-457200"/>
            <a:ext cx="2286000" cy="22860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PRESENTATION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Large Language Models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Automated Generation of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Items Based on SOLO Taxonomy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731520" cy="4572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Uroš Petrašković¹  ·  Goran Savić¹  ·  Mihaela Osmajić¹  ·  Milan Segedinac¹  ·  Peter Steiner²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University of Novi Sad, Faculty of Technical Sciences, Serbia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 Pädagogische Hochschule St. Gallen (PHSG), Switzerland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7901BA34-F0FB-E3CE-CD3F-FC121986679E}"/>
              </a:ext>
            </a:extLst>
          </p:cNvPr>
          <p:cNvSpPr/>
          <p:nvPr/>
        </p:nvSpPr>
        <p:spPr>
          <a:xfrm>
            <a:off x="605906" y="1600200"/>
            <a:ext cx="5349240" cy="40233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B42FDF1-4C78-2543-CBA4-294B1D339A28}"/>
              </a:ext>
            </a:extLst>
          </p:cNvPr>
          <p:cNvSpPr/>
          <p:nvPr/>
        </p:nvSpPr>
        <p:spPr>
          <a:xfrm>
            <a:off x="10210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kern="0" spc="4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4A247AA-578A-6A59-F410-AD5CE3EE73B3}"/>
              </a:ext>
            </a:extLst>
          </p:cNvPr>
          <p:cNvSpPr/>
          <p:nvPr/>
        </p:nvSpPr>
        <p:spPr>
          <a:xfrm>
            <a:off x="1021080" y="233172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is slow, costly, and cognitively demanding.</a:t>
            </a:r>
            <a:endParaRPr lang="en-US" sz="22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EB8940AD-4189-9F79-3F52-27B8B01B040A}"/>
              </a:ext>
            </a:extLst>
          </p:cNvPr>
          <p:cNvSpPr/>
          <p:nvPr/>
        </p:nvSpPr>
        <p:spPr>
          <a:xfrm>
            <a:off x="1021080" y="3444702"/>
            <a:ext cx="548640" cy="36576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C30336C0-5DAB-66CD-B8D0-8617113203C7}"/>
              </a:ext>
            </a:extLst>
          </p:cNvPr>
          <p:cNvSpPr/>
          <p:nvPr/>
        </p:nvSpPr>
        <p:spPr>
          <a:xfrm>
            <a:off x="1039091" y="3700734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/>
              <a:t>Educators spend a lot of time writing assessments 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cover varied cognitive levels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Quality drops under deadline pressure</a:t>
            </a:r>
            <a:endParaRPr lang="en-US" sz="15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F628E407-D686-236D-9A91-E4C14FD5B8F4}"/>
              </a:ext>
            </a:extLst>
          </p:cNvPr>
          <p:cNvSpPr/>
          <p:nvPr/>
        </p:nvSpPr>
        <p:spPr>
          <a:xfrm>
            <a:off x="6278880" y="1600200"/>
            <a:ext cx="5349240" cy="40233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98C60450-8691-85C0-4A5F-807741029269}"/>
              </a:ext>
            </a:extLst>
          </p:cNvPr>
          <p:cNvSpPr/>
          <p:nvPr/>
        </p:nvSpPr>
        <p:spPr>
          <a:xfrm>
            <a:off x="6736080" y="2011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BFD1573-5530-8790-177B-CAFD34C55586}"/>
              </a:ext>
            </a:extLst>
          </p:cNvPr>
          <p:cNvSpPr/>
          <p:nvPr/>
        </p:nvSpPr>
        <p:spPr>
          <a:xfrm>
            <a:off x="6736080" y="233172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pipeline grounded in pedagogical theory.</a:t>
            </a:r>
            <a:endParaRPr lang="en-US" sz="22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5380142-8918-0A44-C21A-C1A2DA34992B}"/>
              </a:ext>
            </a:extLst>
          </p:cNvPr>
          <p:cNvSpPr/>
          <p:nvPr/>
        </p:nvSpPr>
        <p:spPr>
          <a:xfrm>
            <a:off x="6736080" y="3429000"/>
            <a:ext cx="548640" cy="36576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54B62A5-E511-DBC8-562C-8FAF55419205}"/>
              </a:ext>
            </a:extLst>
          </p:cNvPr>
          <p:cNvSpPr/>
          <p:nvPr/>
        </p:nvSpPr>
        <p:spPr>
          <a:xfrm>
            <a:off x="6726844" y="3602736"/>
            <a:ext cx="4434840" cy="1740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alone aren't enough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generation lacks structure. Items drift away from intended learning outcomes.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taxonomy for cognitive depth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for structured knowledge</a:t>
            </a:r>
          </a:p>
          <a:p>
            <a:pPr algn="l">
              <a:buSzPct val="100000"/>
            </a:pPr>
            <a:endParaRPr lang="en-US" sz="1500" dirty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buSzPct val="100000"/>
              <a:buChar char="•"/>
            </a:pPr>
            <a:endParaRPr 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991993-8B86-4381-820E-C8A886B28139}"/>
              </a:ext>
            </a:extLst>
          </p:cNvPr>
          <p:cNvSpPr txBox="1"/>
          <p:nvPr/>
        </p:nvSpPr>
        <p:spPr>
          <a:xfrm>
            <a:off x="6637867" y="5098780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structure =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THEORETICAL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SOLO Taxonomy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Observed Learning Outcomes, a framework that categorizes the increasing complexity of a learner's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0888" y="2468880"/>
            <a:ext cx="2011680" cy="27432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0888" y="2468880"/>
            <a:ext cx="2011680" cy="7315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6688" y="274320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8668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232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Prestructural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04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understanding;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missed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irrelevant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544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9544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8124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8124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8688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3260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Grasps a single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of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9000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9000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7580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8144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Multistructural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2716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several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but not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connections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8456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8456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7036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97036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7600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2172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pieces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coherent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79128" y="2468880"/>
            <a:ext cx="2011680" cy="27432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479128" y="2468880"/>
            <a:ext cx="20116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64928" y="2743200"/>
            <a:ext cx="640080" cy="64008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64928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70568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16288" y="4023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new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440680"/>
            <a:ext cx="73152" cy="45720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" y="53949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targets levels 2 → 5. Prestructural is excluded as it represents absent understanding.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RELATED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Prior Research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Generation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Mitkov &amp; Ha (2003)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NLP rules to transform declarative sentences into questions. Effective for simple facts but produced awkward output on complex material.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for Programming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et al. (2006)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assessments can be classified by SOLO levels. Critiqued over-emphasis on low-level skills and gave us our taxonomic frame.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97764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Quality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 (2018)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learn-to-rank approach. Key insight: good distractors should be semantically related yet clearly wrong on close reading.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12080" cy="19202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73152" cy="1920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Education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Kasneci et al. (2023)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ChatGPT in education — fast and diverse generation, but raised concerns about accuracy, bias, and need for teacher oversight.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SYSTEM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monolithic web 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services: Translator, Assessment Generator, Content Parser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- hierarchical structure: Subject → Lesson → Section → Learning Object → Question → Assessment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 - OWL ontology providing semantic enrichment and concept validation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2673" y="5924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Workflow diagram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4831" y="1165860"/>
            <a:ext cx="5331064" cy="47548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271" y="1257300"/>
            <a:ext cx="5148184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PROCESSING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to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5234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242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9242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378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950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lecture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uploaded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515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5546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9554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9554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4690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9262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components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827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5858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9866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9866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002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9574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stored: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→ Sections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Objects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5139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6170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0178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178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5314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9886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relations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exported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OWL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54516" y="292608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364828" y="2103120"/>
            <a:ext cx="1874520" cy="21945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04908" y="1810512"/>
            <a:ext cx="594360" cy="594360"/>
          </a:xfrm>
          <a:prstGeom prst="ellipse">
            <a:avLst/>
          </a:prstGeom>
          <a:solidFill>
            <a:srgbClr val="0A254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04908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562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501988" y="306324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produced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 SOLO levels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5029200"/>
            <a:ext cx="10820095" cy="10058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5800" y="5029200"/>
            <a:ext cx="73152" cy="100584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60120" y="5120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in this study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0120" y="5440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Qwen 2.5 (14B parameters) - runs offline, no API keys required. Architecture is model-agnostic, so swapping in another LLM is straightforward.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GENERATION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Types Across SOLO Levels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uses a tailored prompt adapted to its cognitive complexity. Every item is stored with options, correct answer, and explanation.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86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0868" y="2194560"/>
            <a:ext cx="260604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230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374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74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374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374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74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about one isolated concept or definition.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7550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75508" y="2194560"/>
            <a:ext cx="2606040" cy="640080"/>
          </a:xfrm>
          <a:prstGeom prst="rect">
            <a:avLst/>
          </a:prstGeom>
          <a:solidFill>
            <a:srgbClr val="2A8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6694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Multistructural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838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838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facts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5838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5838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5838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or lists several independent aspects.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014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0148" y="2194560"/>
            <a:ext cx="2606040" cy="640080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158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9302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9302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concepts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9302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9302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9302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how two or more ideas link together.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44788" y="2194560"/>
            <a:ext cx="2606040" cy="3200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044788" y="2194560"/>
            <a:ext cx="2606040" cy="6400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136228" y="2194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27668" y="30632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FOCUS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27668" y="3291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 new context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27668" y="3886200"/>
            <a:ext cx="224028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27668" y="39776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27668" y="42519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knowledge to an unfamiliar domain.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USER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an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 workflow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2860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desired lessons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target SOLO levels</a:t>
            </a:r>
            <a:endParaRPr lang="en-US" sz="15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number of questions per level</a:t>
            </a:r>
            <a:endParaRPr lang="en-US" sz="1500" dirty="0"/>
          </a:p>
          <a:p>
            <a:pPr marL="342900" indent="-342900" algn="l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assembles the assessment automatically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5212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shown in this example were auto-generated from raw teaching materials in Serbian (Operating Systems course).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15909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 Setting parameters for an assessment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2607" y="1348740"/>
            <a:ext cx="65061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ui_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607" y="1463040"/>
            <a:ext cx="6323288" cy="4206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Generated Assessment Item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is presented with multiple-choice options, the correct answer, and a detailed explanation, visible to the educator for review.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90086" y="2103120"/>
            <a:ext cx="6411523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ui_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526" y="2194560"/>
            <a:ext cx="6228643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2578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An assessment item rendered in the system UI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 tag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per question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75378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1138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attribution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1138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/>
              <a:t>from which lesson</a:t>
            </a:r>
          </a:p>
        </p:txBody>
      </p:sp>
      <p:sp>
        <p:nvSpPr>
          <p:cNvPr id="14" name="Shape 11"/>
          <p:cNvSpPr/>
          <p:nvPr/>
        </p:nvSpPr>
        <p:spPr>
          <a:xfrm>
            <a:off x="8173517" y="5806440"/>
            <a:ext cx="228600" cy="228600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539277" y="5715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answer + rationale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539277" y="5971032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 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73152" cy="10972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automatically generated assessment items align with their assigned SOLO level?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611880"/>
            <a:ext cx="5486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73152" cy="109728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automatically generated distractors plausible?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setup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3317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pilot evaluation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0" y="2971800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29718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· Software Testing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0" y="3611879"/>
            <a:ext cx="4572000" cy="50292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3611879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79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validity &amp; distractor quality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/>
          <p:nvPr/>
        </p:nvSpPr>
        <p:spPr>
          <a:xfrm>
            <a:off x="685800" y="3657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EXAMPLE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685800" y="6400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 - A Closer Look</a:t>
            </a:r>
            <a:endParaRPr lang="en-US" sz="2800" dirty="0"/>
          </a:p>
        </p:txBody>
      </p:sp>
      <p:sp>
        <p:nvSpPr>
          <p:cNvPr id="4" name="Badge BG"/>
          <p:cNvSpPr/>
          <p:nvPr/>
        </p:nvSpPr>
        <p:spPr>
          <a:xfrm>
            <a:off x="685800" y="1280160"/>
            <a:ext cx="1828800" cy="320040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ABSTRACT</a:t>
            </a:r>
            <a:endParaRPr lang="en-US" sz="1000" dirty="0"/>
          </a:p>
        </p:txBody>
      </p:sp>
      <p:sp>
        <p:nvSpPr>
          <p:cNvPr id="5" name="Question"/>
          <p:cNvSpPr/>
          <p:nvPr/>
        </p:nvSpPr>
        <p:spPr>
          <a:xfrm>
            <a:off x="685800" y="173736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server receives 5,000 concurrent client connections, each requiring brief CPU work followed by long I/O waits. Spawning a full OS process per connection consumes too much memory due to PCB overhead. Which OS-level approach most effectively reduces per-connection overhead while still supporting concurrent execution?</a:t>
            </a:r>
            <a:endParaRPr lang="en-US" sz="1500" dirty="0"/>
          </a:p>
        </p:txBody>
      </p:sp>
      <p:sp>
        <p:nvSpPr>
          <p:cNvPr id="6" name="Card A"/>
          <p:cNvSpPr/>
          <p:nvPr/>
        </p:nvSpPr>
        <p:spPr>
          <a:xfrm>
            <a:off x="685800" y="3040380"/>
            <a:ext cx="52120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A Circle"/>
          <p:cNvSpPr/>
          <p:nvPr/>
        </p:nvSpPr>
        <p:spPr>
          <a:xfrm>
            <a:off x="914400" y="32004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A Text"/>
          <p:cNvSpPr/>
          <p:nvPr/>
        </p:nvSpPr>
        <p:spPr>
          <a:xfrm>
            <a:off x="1554480" y="31546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kernel-level threads sharing a single process address space, where each thread has only a small TCB and shares memory mappings with sibling threads.</a:t>
            </a:r>
            <a:endParaRPr lang="en-US" sz="1200" dirty="0"/>
          </a:p>
        </p:txBody>
      </p:sp>
      <p:sp>
        <p:nvSpPr>
          <p:cNvPr id="9" name="A Label"/>
          <p:cNvSpPr/>
          <p:nvPr/>
        </p:nvSpPr>
        <p:spPr>
          <a:xfrm>
            <a:off x="1554480" y="423079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10" name="A Explain"/>
          <p:cNvSpPr/>
          <p:nvPr/>
        </p:nvSpPr>
        <p:spPr>
          <a:xfrm>
            <a:off x="1554480" y="445939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share address space; minimal per-connection cost</a:t>
            </a:r>
            <a:endParaRPr lang="en-US" sz="1000" dirty="0"/>
          </a:p>
        </p:txBody>
      </p:sp>
      <p:sp>
        <p:nvSpPr>
          <p:cNvPr id="11" name="Card B"/>
          <p:cNvSpPr/>
          <p:nvPr/>
        </p:nvSpPr>
        <p:spPr>
          <a:xfrm>
            <a:off x="6293815" y="3017520"/>
            <a:ext cx="5212080" cy="1645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 Circle"/>
          <p:cNvSpPr/>
          <p:nvPr/>
        </p:nvSpPr>
        <p:spPr>
          <a:xfrm>
            <a:off x="6522415" y="3200400"/>
            <a:ext cx="457200" cy="457200"/>
          </a:xfrm>
          <a:prstGeom prst="ellipse">
            <a:avLst/>
          </a:prstGeom>
          <a:solidFill>
            <a:srgbClr val="0A254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B Text"/>
          <p:cNvSpPr/>
          <p:nvPr/>
        </p:nvSpPr>
        <p:spPr>
          <a:xfrm>
            <a:off x="7162495" y="315468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single process with fork() called only when CPU work is needed, terminating each child immediately after the work completes to reclaim its PCB.</a:t>
            </a:r>
            <a:endParaRPr lang="en-US" sz="1200" dirty="0"/>
          </a:p>
        </p:txBody>
      </p:sp>
      <p:sp>
        <p:nvSpPr>
          <p:cNvPr id="14" name="B Label"/>
          <p:cNvSpPr/>
          <p:nvPr/>
        </p:nvSpPr>
        <p:spPr>
          <a:xfrm>
            <a:off x="7162495" y="41605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DISTRACTOR</a:t>
            </a:r>
            <a:endParaRPr lang="en-US" sz="1000" dirty="0"/>
          </a:p>
        </p:txBody>
      </p:sp>
      <p:sp>
        <p:nvSpPr>
          <p:cNvPr id="15" name="B Explain"/>
          <p:cNvSpPr/>
          <p:nvPr/>
        </p:nvSpPr>
        <p:spPr>
          <a:xfrm>
            <a:off x="7162495" y="4448387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still creates full PCBs; 5,000 cycles is expensive</a:t>
            </a:r>
            <a:endParaRPr lang="en-US" sz="1000" dirty="0"/>
          </a:p>
        </p:txBody>
      </p:sp>
      <p:sp>
        <p:nvSpPr>
          <p:cNvPr id="16" name="Card C"/>
          <p:cNvSpPr/>
          <p:nvPr/>
        </p:nvSpPr>
        <p:spPr>
          <a:xfrm>
            <a:off x="685800" y="4766733"/>
            <a:ext cx="521208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 Circle"/>
          <p:cNvSpPr/>
          <p:nvPr/>
        </p:nvSpPr>
        <p:spPr>
          <a:xfrm>
            <a:off x="914400" y="4937760"/>
            <a:ext cx="457200" cy="457200"/>
          </a:xfrm>
          <a:prstGeom prst="ellipse">
            <a:avLst/>
          </a:prstGeom>
          <a:solidFill>
            <a:srgbClr val="1E5F8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C Text"/>
          <p:cNvSpPr/>
          <p:nvPr/>
        </p:nvSpPr>
        <p:spPr>
          <a:xfrm>
            <a:off x="1554480" y="48920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5,000 processes upfront at server startup and reuse them via a queue, avoiding per-request PCB allocation costs at runtime.</a:t>
            </a:r>
            <a:endParaRPr lang="en-US" sz="1200" dirty="0"/>
          </a:p>
        </p:txBody>
      </p:sp>
      <p:sp>
        <p:nvSpPr>
          <p:cNvPr id="19" name="C Label"/>
          <p:cNvSpPr/>
          <p:nvPr/>
        </p:nvSpPr>
        <p:spPr>
          <a:xfrm>
            <a:off x="1554480" y="5826759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1E5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DISTRACTOR</a:t>
            </a:r>
            <a:endParaRPr lang="en-US" sz="1000" dirty="0"/>
          </a:p>
        </p:txBody>
      </p:sp>
      <p:sp>
        <p:nvSpPr>
          <p:cNvPr id="20" name="C Explain"/>
          <p:cNvSpPr/>
          <p:nvPr/>
        </p:nvSpPr>
        <p:spPr>
          <a:xfrm>
            <a:off x="1554480" y="60807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Pre-allocating still consumes 5,000x PCB memory upfront</a:t>
            </a:r>
            <a:endParaRPr lang="en-US" sz="1000" dirty="0"/>
          </a:p>
        </p:txBody>
      </p:sp>
      <p:sp>
        <p:nvSpPr>
          <p:cNvPr id="21" name="Card D"/>
          <p:cNvSpPr/>
          <p:nvPr/>
        </p:nvSpPr>
        <p:spPr>
          <a:xfrm>
            <a:off x="6293815" y="4754880"/>
            <a:ext cx="521208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D Circle"/>
          <p:cNvSpPr/>
          <p:nvPr/>
        </p:nvSpPr>
        <p:spPr>
          <a:xfrm>
            <a:off x="6522415" y="4937760"/>
            <a:ext cx="457200" cy="457200"/>
          </a:xfrm>
          <a:prstGeom prst="ellipse">
            <a:avLst/>
          </a:prstGeom>
          <a:solidFill>
            <a:srgbClr val="E07A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D Text"/>
          <p:cNvSpPr/>
          <p:nvPr/>
        </p:nvSpPr>
        <p:spPr>
          <a:xfrm>
            <a:off x="7162495" y="489204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context switching entirely so the OS doesn’t need to save state in PCBs or TCBs, processing connections strictly in arrival order.</a:t>
            </a:r>
            <a:endParaRPr lang="en-US" sz="1200" dirty="0"/>
          </a:p>
        </p:txBody>
      </p:sp>
      <p:sp>
        <p:nvSpPr>
          <p:cNvPr id="24" name="D Label"/>
          <p:cNvSpPr/>
          <p:nvPr/>
        </p:nvSpPr>
        <p:spPr>
          <a:xfrm>
            <a:off x="7162495" y="582506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DISTRACTOR</a:t>
            </a:r>
            <a:endParaRPr lang="en-US" sz="1000" dirty="0"/>
          </a:p>
        </p:txBody>
      </p:sp>
      <p:sp>
        <p:nvSpPr>
          <p:cNvPr id="25" name="D Explain"/>
          <p:cNvSpPr/>
          <p:nvPr/>
        </p:nvSpPr>
        <p:spPr>
          <a:xfrm>
            <a:off x="7162495" y="607652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concurrency entirely; defeats the purpose</a:t>
            </a:r>
            <a:endParaRPr lang="en-US" sz="1000" dirty="0"/>
          </a:p>
        </p:txBody>
      </p:sp>
      <p:sp>
        <p:nvSpPr>
          <p:cNvPr id="26" name="Footer Line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Footer Text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8" name="Page Number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Decreases with Cognitive Complexity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799" y="1460754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taxonomic complexity increased, item quality decreased.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8B7CEF0D-2610-43A4-A4DF-994357F2DA46}"/>
              </a:ext>
            </a:extLst>
          </p:cNvPr>
          <p:cNvSpPr/>
          <p:nvPr/>
        </p:nvSpPr>
        <p:spPr>
          <a:xfrm>
            <a:off x="685800" y="249174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A015C17A-0401-4C7D-81B2-E4F6B64FFAFF}"/>
              </a:ext>
            </a:extLst>
          </p:cNvPr>
          <p:cNvSpPr/>
          <p:nvPr/>
        </p:nvSpPr>
        <p:spPr>
          <a:xfrm>
            <a:off x="978408" y="2400300"/>
            <a:ext cx="25606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levels excelled</a:t>
            </a:r>
            <a:endParaRPr lang="en-US" sz="20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5E40595B-E516-4DD3-B085-95790A22462F}"/>
              </a:ext>
            </a:extLst>
          </p:cNvPr>
          <p:cNvSpPr/>
          <p:nvPr/>
        </p:nvSpPr>
        <p:spPr>
          <a:xfrm>
            <a:off x="978407" y="2729484"/>
            <a:ext cx="4059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Unistructural and multistructural items aligned with intent and had plausible distractors.</a:t>
            </a:r>
            <a:endParaRPr lang="en-US" sz="1600" dirty="0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E94647A-3959-4771-9A02-DFF7B2980F4B}"/>
              </a:ext>
            </a:extLst>
          </p:cNvPr>
          <p:cNvSpPr/>
          <p:nvPr/>
        </p:nvSpPr>
        <p:spPr>
          <a:xfrm>
            <a:off x="685800" y="391668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8AC3A09D-4276-4D83-85F3-4373C5865BB3}"/>
              </a:ext>
            </a:extLst>
          </p:cNvPr>
          <p:cNvSpPr/>
          <p:nvPr/>
        </p:nvSpPr>
        <p:spPr>
          <a:xfrm>
            <a:off x="978408" y="3825240"/>
            <a:ext cx="24167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levels struggled</a:t>
            </a:r>
            <a:endParaRPr lang="en-US" sz="20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19EA1FA-F990-4BE7-B7F6-EC95E5035DC5}"/>
              </a:ext>
            </a:extLst>
          </p:cNvPr>
          <p:cNvSpPr/>
          <p:nvPr/>
        </p:nvSpPr>
        <p:spPr>
          <a:xfrm>
            <a:off x="978408" y="4209288"/>
            <a:ext cx="3559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and extended abstract items showed validity concerns, sometimes oversimplified.</a:t>
            </a:r>
            <a:endParaRPr lang="en-US" sz="16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C6E76959-D80C-4BCE-987E-1FC84A6EB1B6}"/>
              </a:ext>
            </a:extLst>
          </p:cNvPr>
          <p:cNvSpPr/>
          <p:nvPr/>
        </p:nvSpPr>
        <p:spPr>
          <a:xfrm>
            <a:off x="6781800" y="249174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4DBC038A-3319-49B6-A550-397C18F71671}"/>
              </a:ext>
            </a:extLst>
          </p:cNvPr>
          <p:cNvSpPr/>
          <p:nvPr/>
        </p:nvSpPr>
        <p:spPr>
          <a:xfrm>
            <a:off x="7074408" y="2400300"/>
            <a:ext cx="26622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redundancy</a:t>
            </a:r>
            <a:endParaRPr lang="en-US" sz="20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9B4CC60B-F7A3-47A1-AF86-23FA29EC7AC0}"/>
              </a:ext>
            </a:extLst>
          </p:cNvPr>
          <p:cNvSpPr/>
          <p:nvPr/>
        </p:nvSpPr>
        <p:spPr>
          <a:xfrm>
            <a:off x="7074408" y="2799842"/>
            <a:ext cx="3424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options occasionally conveyed the same incorrect concept.</a:t>
            </a:r>
            <a:endParaRPr lang="en-US" sz="1600" dirty="0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32AA650C-13A7-44B9-A01C-0B845D59801C}"/>
              </a:ext>
            </a:extLst>
          </p:cNvPr>
          <p:cNvSpPr/>
          <p:nvPr/>
        </p:nvSpPr>
        <p:spPr>
          <a:xfrm>
            <a:off x="6781800" y="3916680"/>
            <a:ext cx="164592" cy="164592"/>
          </a:xfrm>
          <a:prstGeom prst="ellipse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7143850D-082D-42ED-99C0-3AFE993190EA}"/>
              </a:ext>
            </a:extLst>
          </p:cNvPr>
          <p:cNvSpPr/>
          <p:nvPr/>
        </p:nvSpPr>
        <p:spPr>
          <a:xfrm>
            <a:off x="7074408" y="3825240"/>
            <a:ext cx="394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Adhering to the course material</a:t>
            </a:r>
            <a:endParaRPr lang="en-US" sz="20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EC057219-F085-4867-8BEB-BD8137B0ADFB}"/>
              </a:ext>
            </a:extLst>
          </p:cNvPr>
          <p:cNvSpPr/>
          <p:nvPr/>
        </p:nvSpPr>
        <p:spPr>
          <a:xfrm>
            <a:off x="7074408" y="4209288"/>
            <a:ext cx="3559725" cy="124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Sometimes, especially in the case of extended abstract questions, the questions would contain things that aren’t specifically mentioned in the course material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331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turns raw teaching materials into SOLO-classified assessments works in practice.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" y="3520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3474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LLMs with ontology-driven structure gives the system a coherent knowledge layer.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320040" cy="320040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4617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Lower-cognitive-level items are already production-ready; higher levels need refinement.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858000" y="1828800"/>
            <a:ext cx="4663440" cy="411480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2377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23760" y="2926080"/>
            <a:ext cx="548640" cy="36576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23760" y="3154680"/>
            <a:ext cx="39319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empirical evaluation of question quality across all SOLO levels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causes of quality drop at higher cognitive levels</a:t>
            </a:r>
            <a:endParaRPr lang="en-US" sz="1600" dirty="0"/>
          </a:p>
          <a:p>
            <a:pPr marL="342900" indent="-342900" algn="l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distractor generation for richer pedagogical utility</a:t>
            </a:r>
            <a:endParaRPr lang="en-US" sz="1600" dirty="0"/>
          </a:p>
          <a:p>
            <a:pPr marL="342900" indent="-342900" algn="l"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Multiple Choice Questions, short-answer and essay formats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6446520"/>
            <a:ext cx="1082009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SOLO Assessment Generation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914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07A3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48495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1097280" cy="54864"/>
          </a:xfrm>
          <a:prstGeom prst="rect">
            <a:avLst/>
          </a:prstGeom>
          <a:solidFill>
            <a:srgbClr val="E07A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comments, and discussion welcome.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0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author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Goran Savić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Technical Sciences, University of Novi Sad</a:t>
            </a:r>
            <a:endParaRPr lang="en-US" sz="14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savicg@uns.ac.rs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Ministry of Science, Technological Development and Innovation (No. 451-03-34/2026-03/200156) and the Faculty of Technical Sciences, University of Novi Sad (No. 01-3609/1).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1311</Words>
  <Application>Microsoft Office PowerPoint</Application>
  <PresentationFormat>Widescreen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LLMs for SOLO-Based Assessment Generation</dc:title>
  <dc:subject>PptxGenJS Presentation</dc:subject>
  <dc:creator>Petraskovic, Savic, Osmajic, Segedinac, Steiner</dc:creator>
  <cp:lastModifiedBy>Uros Petraskovic</cp:lastModifiedBy>
  <cp:revision>13</cp:revision>
  <dcterms:created xsi:type="dcterms:W3CDTF">2026-04-28T13:46:27Z</dcterms:created>
  <dcterms:modified xsi:type="dcterms:W3CDTF">2026-05-05T13:22:15Z</dcterms:modified>
</cp:coreProperties>
</file>